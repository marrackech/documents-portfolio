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>
      <p:cViewPr varScale="1">
        <p:scale>
          <a:sx n="109" d="100"/>
          <a:sy n="109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A7A35-42C8-8EBB-E89D-E125FEAAA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23094A-4E50-BEB7-20F7-912A54A7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E22E58-28A1-CA66-5763-A3F00A4F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757D85-A1C4-47CF-6CA1-DF3A8DC1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C3B357-90BF-D222-24A6-EB8E8FB9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9009324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20B11-96DB-E2D5-5B88-F34DA12E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8ACDE3-2444-C71C-D794-4A4A3D9B8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016C17-68FB-6423-7B2C-FC3537E9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E16D5-686B-FE0E-6976-1AF2A03D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75B197-8D5E-11EA-8695-F8087F84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1061895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79596-A13D-4D47-0FD2-F742F4ED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36ED7C-CD4C-5A12-4232-2B94AEFBA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961C4A-1B91-EE53-A557-208098B7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FDA759-6B0C-33D8-1453-9C929EE5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70F88-95A7-109C-F4ED-BE4D86C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1462594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325D5-B659-74AE-799E-2AF230C3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6BD5B3-7ED6-B212-06D8-A49DBE47D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B2479F-B534-F523-4494-413242173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AFE245-464C-BE03-38D2-6EF2B801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09971E-062F-F837-687A-DBA0D095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60C7D0-BA45-27A6-9380-A52507F8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4878724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9ECC9-2E45-3068-9D67-115ADAC5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7FB118-A5BA-E8E8-E026-90863A4E0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1DB5E4-A1A6-90EE-181B-9CC9B0E92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2C9539-D683-BF59-8842-8A7A5A381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4C1796-9F64-F12D-A170-559E44AB9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FB48BB8-E2D1-CFBC-3CC7-A54D77E8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308CD1-CE4B-C5FB-E88B-16486D50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F760E1-2345-C667-4162-662A63B2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4747123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52744-4604-ACEC-2595-26CF7221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E57C2D-047D-BBB5-44DB-4D22C7BA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11363C-5A39-AD6A-509A-D073E686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751F0-9909-4D93-211F-ECE3F06E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351853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E10916-4492-9AC0-B8BF-4EB7D00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4A51F4-F903-0F37-CD3C-F2CA903E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57109B-5B50-70B1-1E4A-C8DC1009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7980517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85AB3B-0E06-8FE9-B474-C8AD359B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2223D2-E871-4C9A-18DE-A7735363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1ED123-C81D-04C9-D08D-D5531121A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B31055-A276-850B-B9D2-F3E90402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F11D48-49C9-D6CC-C5FC-F24A548D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2B020F-6B77-5469-A646-5284D16B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3092708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3A202A-9563-BDEA-DE65-E16C3E31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6C48377-8F97-3699-D7B3-C5AE14132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954119-A6B0-7575-163B-BD5BE1907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6604FD-E4AA-BB8A-A790-531FB6D5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7D5E6E-51CA-74B6-F9E5-F04017A6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0B8926-0A97-4268-2194-6509B228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209354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54A11-E65A-EF7B-4BD9-9B9FED72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294613-4932-D6BB-701D-3FAEE89F4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F13D03-F6E8-6764-ECE7-4121ACC5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909F25-588E-198F-E61B-55F30CF1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916256-B485-3F72-1701-2A1FF56F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4089828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7A928B-CBBC-7EDA-692D-F0310719C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BAA0C7-699E-0086-811F-618ECFEF3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579945-B1D4-7DA4-0FB3-4BB7A45A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14B172-2627-AE10-430A-B9644417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68D3E-DC7E-6D29-BFA7-5DBEAC54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6434987"/>
      </p:ext>
    </p:extLst>
  </p:cSld>
  <p:clrMapOvr>
    <a:masterClrMapping/>
  </p:clrMapOvr>
  <p:transition spd="slow" advClick="0" advTm="1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4C4A197-4FDF-C397-33B6-B7E8DD17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77744-3B02-AD67-E038-09257F922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717843-EEB6-1D50-E968-FAB42BF45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7F3EE-9943-FE47-88BF-348013FD4B33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5E323C-55A0-26C5-C2D5-158A1A824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267F2D-5011-039F-CDC0-BB6665EAF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7AEDF-92BC-9445-8887-2225E9F6678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0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1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40F97-A188-2E48-299C-F8086774A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70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CAHIER DES CHARGES – Projet Portfolio Data Analyst (Réponse à Aéroworld)</a:t>
            </a:r>
            <a:br>
              <a:rPr lang="fr-FR" b="1" i="0" u="none" strike="noStrike" dirty="0">
                <a:solidFill>
                  <a:schemeClr val="bg1"/>
                </a:solidFill>
                <a:effectLst/>
              </a:rPr>
            </a:b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Consultant : Haroun Tanane – Data Analyst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Entreprise : Data ESN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Client : Aéroworld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74730"/>
      </p:ext>
    </p:extLst>
  </p:cSld>
  <p:clrMapOvr>
    <a:masterClrMapping/>
  </p:clrMapOvr>
  <p:transition spd="slow" advClick="0" advTm="1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79C9FE-2375-50C7-7B63-8EB2C736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Contexte du projet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7EEC1-8088-787E-9451-0E80D0EA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Wingdings" pitchFamily="2" charset="2"/>
              <a:buChar char="§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Aéroworld, leader mondial de l’industrie aéronautique, fait face à une problématique de gestion massive et complexe de données provenant de multiples systèmes (maintenance, capteurs, essais en vol, opérations, clients).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Ils recherchent un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chef de projet Data Analyst expérimenté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capable d’analyser leurs besoins, piloter des projets data, réaliser une veille technologique et accompagner les équipes dans l’usage des outils.</a:t>
            </a:r>
          </a:p>
          <a:p>
            <a:pPr algn="l">
              <a:buFont typeface="Wingdings" pitchFamily="2" charset="2"/>
              <a:buChar char="§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 recrutement repose sur la présentation d’un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Portfolio professionnel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visuel et structuré, démontrant toutes les compétences attendues.</a:t>
            </a:r>
          </a:p>
          <a:p>
            <a:pPr>
              <a:buFont typeface="Wingdings" pitchFamily="2" charset="2"/>
              <a:buChar char="§"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803403"/>
      </p:ext>
    </p:extLst>
  </p:cSld>
  <p:clrMapOvr>
    <a:masterClrMapping/>
  </p:clrMapOvr>
  <p:transition spd="slow" advClick="0" advTm="1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E0DD2-2B0B-C147-2478-7E584761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📑 Sommaire</a:t>
            </a:r>
            <a:br>
              <a:rPr lang="fr-FR" b="1" i="0" u="none" strike="noStrike" dirty="0">
                <a:solidFill>
                  <a:schemeClr val="bg1"/>
                </a:solidFill>
                <a:effectLst/>
              </a:rPr>
            </a:b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AA0ACE-443F-781A-2586-936397742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Contexte &amp; Présentation d’Aéroworld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Problématique Data &amp; Enjeux Stratégiques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Objectifs du Projet d’Analyse Data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Attentes et Compétences Recherchées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Livrables Demandés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Méthodologie &amp; Organisation du Projet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Posture de Consultant &amp; Soft Skills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Conclusion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just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55274"/>
      </p:ext>
    </p:extLst>
  </p:cSld>
  <p:clrMapOvr>
    <a:masterClrMapping/>
  </p:clrMapOvr>
  <p:transition spd="slow" advClick="0" advTm="1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0F60B9-7BC6-339F-C660-6384488A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-webkit-standard"/>
              </a:rPr>
              <a:t>1</a:t>
            </a:r>
            <a:r>
              <a:rPr lang="fr-FR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.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Objectif du projet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D4CB2-B14B-73BF-F479-DCCCEBBB9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Créer un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Portfolio Data Analyst complet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visuel et réflexif, intégrant :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présentation du consultant (profil, skills, soft skills)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les projets data réalisés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deux tableaux de bord (veille + profil)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une vidéo de formation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une documentation technique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les livrables organisationnels (analyse du besoin, cahier des charges, Gantt, mock-ups)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Ce portfolio doit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incarner une posture de consultant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 et convaincre Aéroworld que le candidat maîtrise :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l’analyse data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gestion de projet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communication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 conseil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l’accompagnement d’équipe</a:t>
            </a:r>
          </a:p>
          <a:p>
            <a:pPr algn="ctr">
              <a:buFont typeface="Wingdings" pitchFamily="2" charset="2"/>
              <a:buChar char="v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rigueur documentaire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990460"/>
      </p:ext>
    </p:extLst>
  </p:cSld>
  <p:clrMapOvr>
    <a:masterClrMapping/>
  </p:clrMapOvr>
  <p:transition spd="slow" advClick="0" advTm="1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C5E45D-BCE9-C8F7-CE36-33EB997F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98" y="166144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3.1 ACCUEIL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B0121A-27A6-AB65-285F-1CE9E17A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66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Le portfolio doit comporter les </a:t>
            </a:r>
            <a:r>
              <a:rPr lang="fr-FR" sz="2000" b="1" i="0" u="none" strike="noStrike" dirty="0">
                <a:solidFill>
                  <a:schemeClr val="bg1"/>
                </a:solidFill>
                <a:effectLst/>
              </a:rPr>
              <a:t>sections suivantes</a:t>
            </a:r>
            <a:r>
              <a:rPr lang="fr-FR" sz="2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B7AB105-21BE-8B10-7696-5337BD51A8E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  <a:latin typeface="-webkit-standard"/>
              </a:rPr>
              <a:t>3. </a:t>
            </a:r>
            <a:r>
              <a:rPr lang="fr-FR" b="1" dirty="0">
                <a:solidFill>
                  <a:schemeClr val="bg1"/>
                </a:solidFill>
              </a:rPr>
              <a:t>Périmètre fonctionnel du projet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5400F77-7DDE-CA3B-4901-FDBD650C7E59}"/>
              </a:ext>
            </a:extLst>
          </p:cNvPr>
          <p:cNvSpPr txBox="1">
            <a:spLocks/>
          </p:cNvSpPr>
          <p:nvPr/>
        </p:nvSpPr>
        <p:spPr>
          <a:xfrm>
            <a:off x="838200" y="41226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3.2 ABOUT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12F24A-D0B9-7B2B-4016-CC460CF4EB10}"/>
              </a:ext>
            </a:extLst>
          </p:cNvPr>
          <p:cNvSpPr txBox="1"/>
          <p:nvPr/>
        </p:nvSpPr>
        <p:spPr>
          <a:xfrm>
            <a:off x="4267038" y="2462826"/>
            <a:ext cx="36579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boutons vers les sections principales:</a:t>
            </a:r>
          </a:p>
          <a:p>
            <a:pPr algn="ctr"/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About/Skills/Projets/Contact</a:t>
            </a:r>
          </a:p>
          <a:p>
            <a:pPr algn="ctr"/>
            <a:endParaRPr lang="fr-FR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Flèche à trois pointes 12">
            <a:extLst>
              <a:ext uri="{FF2B5EF4-FFF2-40B4-BE49-F238E27FC236}">
                <a16:creationId xmlns:a16="http://schemas.microsoft.com/office/drawing/2014/main" id="{D8320F45-9E93-CD19-35F6-E6E9E87651F3}"/>
              </a:ext>
            </a:extLst>
          </p:cNvPr>
          <p:cNvSpPr/>
          <p:nvPr/>
        </p:nvSpPr>
        <p:spPr>
          <a:xfrm flipH="1">
            <a:off x="5898356" y="3525587"/>
            <a:ext cx="700088" cy="691991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0D3C30-2E1F-AE30-2D1C-C858ED9EDFDF}"/>
              </a:ext>
            </a:extLst>
          </p:cNvPr>
          <p:cNvSpPr/>
          <p:nvPr/>
        </p:nvSpPr>
        <p:spPr>
          <a:xfrm>
            <a:off x="4869656" y="5117513"/>
            <a:ext cx="2757487" cy="1540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bio FR / EN / ES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soft skills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GitHub – LinkedIn – email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CV PDF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EA5DE-DC7E-FA79-6E06-11FC204E58D1}"/>
              </a:ext>
            </a:extLst>
          </p:cNvPr>
          <p:cNvSpPr/>
          <p:nvPr/>
        </p:nvSpPr>
        <p:spPr>
          <a:xfrm>
            <a:off x="1206969" y="3785307"/>
            <a:ext cx="2757487" cy="574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phrase de présentation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10CB3-F849-CEEB-45C1-441883702721}"/>
              </a:ext>
            </a:extLst>
          </p:cNvPr>
          <p:cNvSpPr/>
          <p:nvPr/>
        </p:nvSpPr>
        <p:spPr>
          <a:xfrm>
            <a:off x="8672513" y="3768055"/>
            <a:ext cx="2757487" cy="574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photo 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 titre</a:t>
            </a:r>
          </a:p>
        </p:txBody>
      </p:sp>
    </p:spTree>
    <p:extLst>
      <p:ext uri="{BB962C8B-B14F-4D97-AF65-F5344CB8AC3E}">
        <p14:creationId xmlns:p14="http://schemas.microsoft.com/office/powerpoint/2010/main" val="171630428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B42C6-5B1A-1885-A028-38FE2A09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198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3.3 SKILLS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9566F14-2FF1-AE75-6A87-180A92D89AF6}"/>
              </a:ext>
            </a:extLst>
          </p:cNvPr>
          <p:cNvSpPr txBox="1">
            <a:spLocks/>
          </p:cNvSpPr>
          <p:nvPr/>
        </p:nvSpPr>
        <p:spPr>
          <a:xfrm>
            <a:off x="838200" y="16988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3.4 PROJETS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C69C145-B994-EFA8-8FC9-63A41F2A1943}"/>
              </a:ext>
            </a:extLst>
          </p:cNvPr>
          <p:cNvSpPr txBox="1">
            <a:spLocks/>
          </p:cNvSpPr>
          <p:nvPr/>
        </p:nvSpPr>
        <p:spPr>
          <a:xfrm>
            <a:off x="838197" y="43361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3.5 DASHBOARDS (livrable Aéroworld)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2E60D9A-B068-656E-566E-D584EA679D15}"/>
              </a:ext>
            </a:extLst>
          </p:cNvPr>
          <p:cNvSpPr txBox="1"/>
          <p:nvPr/>
        </p:nvSpPr>
        <p:spPr>
          <a:xfrm>
            <a:off x="1366900" y="5289602"/>
            <a:ext cx="9458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Dashboard de veille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Dashboard de profil professionnel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DF297E-1B09-4908-FAAA-CA41A55AEF71}"/>
              </a:ext>
            </a:extLst>
          </p:cNvPr>
          <p:cNvSpPr/>
          <p:nvPr/>
        </p:nvSpPr>
        <p:spPr>
          <a:xfrm>
            <a:off x="4717255" y="2543174"/>
            <a:ext cx="2757487" cy="19288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Cartes avec description courte</a:t>
            </a:r>
          </a:p>
          <a:p>
            <a:pPr algn="ctr"/>
            <a:r>
              <a:rPr lang="fr-FR" dirty="0"/>
              <a:t>tags</a:t>
            </a:r>
          </a:p>
          <a:p>
            <a:pPr algn="ctr"/>
            <a:r>
              <a:rPr lang="fr-FR" dirty="0"/>
              <a:t>technologies</a:t>
            </a:r>
          </a:p>
          <a:p>
            <a:pPr algn="ctr"/>
            <a:r>
              <a:rPr lang="fr-FR" dirty="0"/>
              <a:t>liens GitHub</a:t>
            </a:r>
          </a:p>
          <a:p>
            <a:pPr algn="ctr"/>
            <a:r>
              <a:rPr lang="fr-FR" dirty="0"/>
              <a:t>démos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5D1ABF-17F1-E966-11BD-E11B8AE07B79}"/>
              </a:ext>
            </a:extLst>
          </p:cNvPr>
          <p:cNvSpPr/>
          <p:nvPr/>
        </p:nvSpPr>
        <p:spPr>
          <a:xfrm>
            <a:off x="3362358" y="518936"/>
            <a:ext cx="5667342" cy="1540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fr-FR" sz="1800" dirty="0"/>
              <a:t>cartes de compétences</a:t>
            </a:r>
          </a:p>
          <a:p>
            <a:pPr marL="0" indent="0" algn="ctr">
              <a:buNone/>
            </a:pPr>
            <a:r>
              <a:rPr lang="fr-FR" sz="1800" dirty="0"/>
              <a:t>technologies (Python, SQL, Power BI/Tableau, Git, ML, statistiques…)</a:t>
            </a:r>
          </a:p>
          <a:p>
            <a:pPr marL="0" indent="0" algn="ctr">
              <a:buNone/>
            </a:pPr>
            <a:r>
              <a:rPr lang="fr-FR" sz="1800" dirty="0"/>
              <a:t>animations et structure claire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57AE3B-36F4-9C89-F64B-635E9DE201C2}"/>
              </a:ext>
            </a:extLst>
          </p:cNvPr>
          <p:cNvSpPr/>
          <p:nvPr/>
        </p:nvSpPr>
        <p:spPr>
          <a:xfrm>
            <a:off x="5494767" y="6107170"/>
            <a:ext cx="1402523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storytelling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B7FE69-CA64-35BC-F7DC-4543D017EC20}"/>
              </a:ext>
            </a:extLst>
          </p:cNvPr>
          <p:cNvSpPr/>
          <p:nvPr/>
        </p:nvSpPr>
        <p:spPr>
          <a:xfrm>
            <a:off x="9029699" y="6097469"/>
            <a:ext cx="1402523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KPIs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A8431C-4C1F-254F-B890-C590F405874B}"/>
              </a:ext>
            </a:extLst>
          </p:cNvPr>
          <p:cNvSpPr/>
          <p:nvPr/>
        </p:nvSpPr>
        <p:spPr>
          <a:xfrm>
            <a:off x="1959835" y="6097468"/>
            <a:ext cx="1402523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Filtres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151EEE-8B72-6375-B269-941ADFA7AD15}"/>
              </a:ext>
            </a:extLst>
          </p:cNvPr>
          <p:cNvSpPr/>
          <p:nvPr/>
        </p:nvSpPr>
        <p:spPr>
          <a:xfrm>
            <a:off x="266266" y="2609103"/>
            <a:ext cx="445098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fr-FR" sz="5400" b="1" dirty="0">
                <a:ln/>
                <a:solidFill>
                  <a:schemeClr val="accent3"/>
                </a:solidFill>
              </a:rPr>
              <a:t>M</a:t>
            </a:r>
            <a:r>
              <a:rPr lang="fr-FR" sz="5400" b="1" cap="none" spc="0" dirty="0">
                <a:ln/>
                <a:solidFill>
                  <a:schemeClr val="accent3"/>
                </a:solidFill>
                <a:effectLst/>
              </a:rPr>
              <a:t>inimum 8 </a:t>
            </a:r>
          </a:p>
          <a:p>
            <a:pPr algn="ctr"/>
            <a:r>
              <a:rPr lang="fr-FR" sz="5400" b="1" cap="none" spc="0" dirty="0">
                <a:ln/>
                <a:solidFill>
                  <a:schemeClr val="accent3"/>
                </a:solidFill>
                <a:effectLst/>
              </a:rPr>
              <a:t>à 10 projets</a:t>
            </a:r>
          </a:p>
        </p:txBody>
      </p:sp>
    </p:spTree>
    <p:extLst>
      <p:ext uri="{BB962C8B-B14F-4D97-AF65-F5344CB8AC3E}">
        <p14:creationId xmlns:p14="http://schemas.microsoft.com/office/powerpoint/2010/main" val="1505824892"/>
      </p:ext>
    </p:extLst>
  </p:cSld>
  <p:clrMapOvr>
    <a:masterClrMapping/>
  </p:clrMapOvr>
  <p:transition spd="slow" advClick="0" advTm="1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89AEF-289E-F9F6-7AB1-B5A352DD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8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3.6 VIDEO DE FORMATION (livrable Aéroworld)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D0BEA-2705-5EEF-014F-D7B173ACB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277"/>
            <a:ext cx="10515600" cy="79231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</a:rPr>
              <a:t>vidéo Loom / YouTube non listé</a:t>
            </a:r>
          </a:p>
          <a:p>
            <a:pPr>
              <a:buFont typeface="Wingdings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</a:rPr>
              <a:t>démo d’un outil / Dashboard / workflow data</a:t>
            </a:r>
          </a:p>
          <a:p>
            <a:pPr>
              <a:buFont typeface="Wingdings" pitchFamily="2" charset="2"/>
              <a:buChar char="Ø"/>
            </a:pPr>
            <a:endParaRPr lang="fr-FR" sz="1800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28074E1-4ECE-358C-25E4-ACE056303B26}"/>
              </a:ext>
            </a:extLst>
          </p:cNvPr>
          <p:cNvSpPr txBox="1">
            <a:spLocks/>
          </p:cNvSpPr>
          <p:nvPr/>
        </p:nvSpPr>
        <p:spPr>
          <a:xfrm>
            <a:off x="838200" y="15990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3.7 DOCUMENTATION (livrable Aéroworld)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C0D16E0-F8BE-12BB-F3D3-B27C76662102}"/>
              </a:ext>
            </a:extLst>
          </p:cNvPr>
          <p:cNvSpPr txBox="1">
            <a:spLocks/>
          </p:cNvSpPr>
          <p:nvPr/>
        </p:nvSpPr>
        <p:spPr>
          <a:xfrm>
            <a:off x="1103334" y="31479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26AD0D7-11D9-7DC0-F6CB-87CDE134B832}"/>
              </a:ext>
            </a:extLst>
          </p:cNvPr>
          <p:cNvSpPr txBox="1"/>
          <p:nvPr/>
        </p:nvSpPr>
        <p:spPr>
          <a:xfrm>
            <a:off x="0" y="2719228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itchFamily="2" charset="2"/>
              <a:buChar char="q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description du workflow data</a:t>
            </a:r>
          </a:p>
          <a:p>
            <a:pPr marL="285750" indent="-285750" algn="ctr">
              <a:buFont typeface="Wingdings" pitchFamily="2" charset="2"/>
              <a:buChar char="q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jeux de données</a:t>
            </a:r>
          </a:p>
          <a:p>
            <a:pPr marL="285750" indent="-285750" algn="ctr">
              <a:buFont typeface="Wingdings" pitchFamily="2" charset="2"/>
              <a:buChar char="q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méthodologie</a:t>
            </a:r>
          </a:p>
          <a:p>
            <a:pPr marL="285750" indent="-285750" algn="ctr">
              <a:buFont typeface="Wingdings" pitchFamily="2" charset="2"/>
              <a:buChar char="q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risques et limites</a:t>
            </a:r>
          </a:p>
          <a:p>
            <a:pPr marL="285750" indent="-285750" algn="ctr">
              <a:buFont typeface="Wingdings" pitchFamily="2" charset="2"/>
              <a:buChar char="q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recommandations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CFAB90E-1535-8C9B-1F41-1638EBADCBA0}"/>
              </a:ext>
            </a:extLst>
          </p:cNvPr>
          <p:cNvSpPr txBox="1">
            <a:spLocks/>
          </p:cNvSpPr>
          <p:nvPr/>
        </p:nvSpPr>
        <p:spPr>
          <a:xfrm>
            <a:off x="838200" y="39333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3.8 LIVRABLES ORGANISATIONNELS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8ECFC0D-957A-1479-67DD-867661B8A79E}"/>
              </a:ext>
            </a:extLst>
          </p:cNvPr>
          <p:cNvSpPr txBox="1"/>
          <p:nvPr/>
        </p:nvSpPr>
        <p:spPr>
          <a:xfrm>
            <a:off x="838200" y="5222469"/>
            <a:ext cx="36797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+mj-lt"/>
              <a:buAutoNum type="alphaLcParenR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analyse du besoin d’Aéroworld</a:t>
            </a:r>
          </a:p>
          <a:p>
            <a:pPr marL="342900" indent="-342900" algn="l">
              <a:buFont typeface="+mj-lt"/>
              <a:buAutoNum type="alphaLcParenR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cahier des charges (ce document)</a:t>
            </a:r>
          </a:p>
          <a:p>
            <a:pPr marL="342900" indent="-342900" algn="l">
              <a:buFont typeface="+mj-lt"/>
              <a:buAutoNum type="alphaLcParenR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diagramme de Gantt</a:t>
            </a:r>
          </a:p>
          <a:p>
            <a:pPr marL="342900" indent="-342900" algn="l">
              <a:buFont typeface="+mj-lt"/>
              <a:buAutoNum type="alphaLcParenR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mock-up dashboard</a:t>
            </a:r>
          </a:p>
          <a:p>
            <a:pPr marL="342900" indent="-342900" algn="l">
              <a:buFont typeface="+mj-lt"/>
              <a:buAutoNum type="alphaLcParenR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mock-up portfolio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533249"/>
      </p:ext>
    </p:extLst>
  </p:cSld>
  <p:clrMapOvr>
    <a:masterClrMapping/>
  </p:clrMapOvr>
  <p:transition spd="slow" advClick="0" advTm="1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4E537-F101-BA2A-09E4-5E300615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4. </a:t>
            </a:r>
            <a:r>
              <a:rPr lang="fr-FR" sz="3200" b="1" i="0" u="none" strike="noStrike" dirty="0">
                <a:solidFill>
                  <a:schemeClr val="bg1"/>
                </a:solidFill>
                <a:effectLst/>
              </a:rPr>
              <a:t>Analyse des besoins du client (résumé)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0D5844-20C3-6B66-C7EC-D78443C1B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algn="l"/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Aéroworld a besoin d’un consultant capable de :</a:t>
            </a:r>
          </a:p>
          <a:p>
            <a:pPr marL="0" indent="0" algn="l">
              <a:buNone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faire de la veille technologique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comprendre les besoins métier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formaliser un cahier des charges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piloter un projet data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accompagner les équipes sur les outils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rédiger une documentation claire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 ✔ adopter une posture de conseil</a:t>
            </a:r>
          </a:p>
          <a:p>
            <a:pPr algn="l"/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Les livrables demandés ont pour but de vérifier ces compétences à travers un portfolio structuré et professionnel.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279944"/>
      </p:ext>
    </p:extLst>
  </p:cSld>
  <p:clrMapOvr>
    <a:masterClrMapping/>
  </p:clrMapOvr>
  <p:transition spd="slow" advClick="0" advTm="1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A05BC-5E1B-7436-E3DB-AE87170B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5. </a:t>
            </a:r>
            <a:r>
              <a:rPr lang="fr-FR" sz="3200" b="1" i="0" u="none" strike="noStrike" dirty="0">
                <a:solidFill>
                  <a:schemeClr val="bg1"/>
                </a:solidFill>
                <a:effectLst/>
              </a:rPr>
              <a:t>Contraintes du projet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3A7E53-C1BD-58D3-673D-ADB7EA97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605"/>
            <a:ext cx="10515600" cy="4351338"/>
          </a:xfrm>
        </p:spPr>
        <p:txBody>
          <a:bodyPr/>
          <a:lstStyle/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Portfolio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réalisé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pas un modèle générique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Dashboard réalisé sur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Power BI 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Vidéo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en français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format pédagogique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Livrables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cohérents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, harmonisés visuellement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Respect de la posture consultant (communication, vulgarisation)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Portfolio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hébergé en ligne</a:t>
            </a: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 (Vercel)</a:t>
            </a:r>
          </a:p>
          <a:p>
            <a:pPr marL="571500" indent="-571500" algn="ctr">
              <a:buFont typeface="+mj-lt"/>
              <a:buAutoNum type="romanU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Document final contenant le </a:t>
            </a:r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lien vers le portfolio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731830"/>
      </p:ext>
    </p:extLst>
  </p:cSld>
  <p:clrMapOvr>
    <a:masterClrMapping/>
  </p:clrMapOvr>
  <p:transition spd="slow" advClick="0" advTm="1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C0EAE-5F1E-93E5-2C94-955E77EB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6. </a:t>
            </a:r>
            <a:r>
              <a:rPr lang="fr-FR" sz="3200" b="1" i="0" u="none" strike="noStrike" dirty="0">
                <a:solidFill>
                  <a:schemeClr val="bg1"/>
                </a:solidFill>
                <a:effectLst/>
              </a:rPr>
              <a:t>Livrables attendus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ED7169-CC87-6975-14AE-35D0CE49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fr-FR" b="1" i="0" u="none" strike="noStrike" dirty="0">
                <a:solidFill>
                  <a:schemeClr val="bg1"/>
                </a:solidFill>
                <a:effectLst/>
              </a:rPr>
              <a:t>Livrables à produire :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Carte mentale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Cahier des charges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Analyse du besoin d’Aéroworld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Diagramme de Gantt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Mock-up des dashboards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Mock-up du portfolio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Deux dashboards 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Vidéo de </a:t>
            </a:r>
            <a:r>
              <a:rPr lang="fr-FR" dirty="0">
                <a:solidFill>
                  <a:schemeClr val="bg1"/>
                </a:solidFill>
              </a:rPr>
              <a:t>formation « https://</a:t>
            </a:r>
            <a:r>
              <a:rPr lang="fr-FR" dirty="0" err="1">
                <a:solidFill>
                  <a:schemeClr val="bg1"/>
                </a:solidFill>
              </a:rPr>
              <a:t>youtu.be</a:t>
            </a:r>
            <a:r>
              <a:rPr lang="fr-FR">
                <a:solidFill>
                  <a:schemeClr val="bg1"/>
                </a:solidFill>
              </a:rPr>
              <a:t>/V9rJBRN-zDI »</a:t>
            </a: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Documentation technique complète</a:t>
            </a:r>
          </a:p>
          <a:p>
            <a:pPr algn="ctr">
              <a:buFont typeface="+mj-lt"/>
              <a:buAutoNum type="arabicPeriod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Portfolio final en ligne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61906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6CEC1-575E-B2FE-11B2-800BF6FD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7. </a:t>
            </a:r>
            <a:r>
              <a:rPr lang="fr-FR" sz="3200" b="1" i="0" u="none" strike="noStrike" dirty="0">
                <a:solidFill>
                  <a:schemeClr val="bg1"/>
                </a:solidFill>
                <a:effectLst/>
              </a:rPr>
              <a:t>Planification (Gantt) </a:t>
            </a:r>
            <a:endParaRPr lang="fr-FR" sz="3200" dirty="0">
              <a:solidFill>
                <a:schemeClr val="bg1"/>
              </a:solidFill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137A192-FA80-690A-6F2F-6930CC11A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103671"/>
              </p:ext>
            </p:extLst>
          </p:nvPr>
        </p:nvGraphicFramePr>
        <p:xfrm>
          <a:off x="838199" y="1185586"/>
          <a:ext cx="105156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939366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77309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04154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1482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Durée estimée 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Début 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Fin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753818"/>
                  </a:ext>
                </a:extLst>
              </a:tr>
              <a:tr h="579470">
                <a:tc>
                  <a:txBody>
                    <a:bodyPr/>
                    <a:lstStyle/>
                    <a:p>
                      <a:r>
                        <a:rPr lang="fr-FR" dirty="0"/>
                        <a:t>Carte mentale </a:t>
                      </a:r>
                    </a:p>
                  </a:txBody>
                  <a:tcPr>
                    <a:blipFill dpi="0"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jour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16/11/2025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17/11/2025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52240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Cahier des charges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jour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17/11/2025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18/11/2025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2004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Analyse du besoin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jour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18/11/2025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19/11/2025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4216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Mock-ups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jour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19/11/2025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20/11/2025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7061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Dashboards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jours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20/11/2025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22/11/2025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0400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Vidéo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jours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22/11/2025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24/11/2025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14046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Documentation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jours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24/11/2025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25/11/2025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53147372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089ABC3-398F-C406-0330-98C9DCB89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626961"/>
              </p:ext>
            </p:extLst>
          </p:nvPr>
        </p:nvGraphicFramePr>
        <p:xfrm>
          <a:off x="838199" y="6036986"/>
          <a:ext cx="1051560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402519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614865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30668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8536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Portfolio final 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jours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25/11/2025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27/11/2025</a:t>
                      </a:r>
                    </a:p>
                    <a:p>
                      <a:endParaRPr lang="fr-FR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51598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303336"/>
      </p:ext>
    </p:extLst>
  </p:cSld>
  <p:clrMapOvr>
    <a:masterClrMapping/>
  </p:clrMapOvr>
  <p:transition spd="slow" advClick="0" advTm="1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24C66F-6BAE-D359-C718-AF9253A90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 portfolio est jugé réussi si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il présente clairement le profil et la posture du consultant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il démontre les compétences data et projet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les dashboards sont complets et lisibles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vidéo est fluide, pédagogique et professionnelle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documentation est exploitable par une équipe interne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les livrables organisationnels montrent une bonne maîtrise du pilotage de projet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la présentation orale est claire et structurée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E2610-7730-F0AF-106D-867074C6F74A}"/>
              </a:ext>
            </a:extLst>
          </p:cNvPr>
          <p:cNvSpPr/>
          <p:nvPr/>
        </p:nvSpPr>
        <p:spPr>
          <a:xfrm>
            <a:off x="2550991" y="219372"/>
            <a:ext cx="70900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685800" indent="-685800" algn="ctr">
              <a:buFont typeface="Wingdings" pitchFamily="2" charset="2"/>
              <a:buChar char="ü"/>
            </a:pPr>
            <a:r>
              <a:rPr lang="fr-FR" sz="5400" b="1" i="0" u="none" strike="noStrike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8. Critères de réussite</a:t>
            </a:r>
            <a:endParaRPr lang="fr-FR" sz="54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1726304"/>
      </p:ext>
    </p:extLst>
  </p:cSld>
  <p:clrMapOvr>
    <a:masterClrMapping/>
  </p:clrMapOvr>
  <p:transition spd="slow" advClick="0" advTm="1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55D480-0314-CF21-4E97-21229E1FE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Ce cahier des charges permet de cadrer précisément les besoins Data d’Aéroworld dans un contexte de grande complexité technique et organisationnelle.</a:t>
            </a:r>
            <a:br>
              <a:rPr lang="fr-FR" b="0" i="0" u="none" strike="noStrike" dirty="0">
                <a:solidFill>
                  <a:schemeClr val="bg1"/>
                </a:solidFill>
                <a:effectLst/>
              </a:rPr>
            </a:b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Il définit les enjeux, les objectifs, les contraintes et les livrables nécessaires pour structurer une démarche d’analyse de données robuste, sécurisée et alignée sur les ambitions stratégiques de l’entreprise.</a:t>
            </a:r>
          </a:p>
          <a:p>
            <a:pPr marL="0" indent="0" algn="l">
              <a:buNone/>
            </a:pPr>
            <a:endParaRPr lang="fr-FR" b="0" i="0" u="none" strike="noStrike" dirty="0">
              <a:solidFill>
                <a:schemeClr val="bg1"/>
              </a:solidFill>
              <a:effectLst/>
            </a:endParaRPr>
          </a:p>
          <a:p>
            <a:pPr marL="0" indent="0" algn="l">
              <a:buNone/>
            </a:pPr>
            <a:r>
              <a:rPr lang="fr-FR" b="0" i="0" u="none" strike="noStrike" dirty="0">
                <a:solidFill>
                  <a:schemeClr val="bg1"/>
                </a:solidFill>
                <a:effectLst/>
              </a:rPr>
              <a:t>En s’appuyant sur cette base, le projet vise à proposer une approche méthodologique claire, une organisation efficace et une posture de consultant capable de challenger les besoins et de guider les équipes vers une meilleure exploitation de la Data à grande échelle.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1AF047-DA97-307C-7107-E5D68C3B9F30}"/>
              </a:ext>
            </a:extLst>
          </p:cNvPr>
          <p:cNvSpPr/>
          <p:nvPr/>
        </p:nvSpPr>
        <p:spPr>
          <a:xfrm>
            <a:off x="4437532" y="403403"/>
            <a:ext cx="3316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Conclusion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2028198"/>
      </p:ext>
    </p:extLst>
  </p:cSld>
  <p:clrMapOvr>
    <a:masterClrMapping/>
  </p:clrMapOvr>
  <p:transition spd="slow" advClick="0" advTm="1000">
    <p:push dir="u"/>
  </p:transition>
</p:sld>
</file>

<file path=ppt/theme/theme1.xml><?xml version="1.0" encoding="utf-8"?>
<a:theme xmlns:a="http://schemas.openxmlformats.org/drawingml/2006/main" name="Thème Offic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848</Words>
  <Application>Microsoft Macintosh PowerPoint</Application>
  <PresentationFormat>Grand écran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-webkit-standard</vt:lpstr>
      <vt:lpstr>Arial</vt:lpstr>
      <vt:lpstr>Calibri</vt:lpstr>
      <vt:lpstr>Calibri Light</vt:lpstr>
      <vt:lpstr>Wingdings</vt:lpstr>
      <vt:lpstr>Thème Office</vt:lpstr>
      <vt:lpstr>CAHIER DES CHARGES – Projet Portfolio Data Analyst (Réponse à Aéroworld) Consultant : Haroun Tanane – Data Analyst Entreprise : Data ESN Client : Aéroworld </vt:lpstr>
      <vt:lpstr>Contexte du projet</vt:lpstr>
      <vt:lpstr>📑 Sommaire </vt:lpstr>
      <vt:lpstr>1. Objectif du projet</vt:lpstr>
      <vt:lpstr>3.1 ACCUEIL</vt:lpstr>
      <vt:lpstr>3.3 SKILLS</vt:lpstr>
      <vt:lpstr>3.6 VIDEO DE FORMATION (livrable Aéroworld)</vt:lpstr>
      <vt:lpstr>4. Analyse des besoins du client (résumé)</vt:lpstr>
      <vt:lpstr>5. Contraintes du projet</vt:lpstr>
      <vt:lpstr>6. Livrables attendus</vt:lpstr>
      <vt:lpstr>7. Planification (Gantt) 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CAHIER DES CHARGES – Projet Portfolio Data Analyst (Réponse à Aéroworld) Consultant : Haroun Tanane – Data Analyst Entreprise : Data ESN Client : Aéroworld </dc:title>
  <dc:creator>Mac3</dc:creator>
  <cp:lastModifiedBy>Mac3</cp:lastModifiedBy>
  <cp:revision>11</cp:revision>
  <dcterms:created xsi:type="dcterms:W3CDTF">2025-11-21T09:34:15Z</dcterms:created>
  <dcterms:modified xsi:type="dcterms:W3CDTF">2025-11-25T21:46:21Z</dcterms:modified>
</cp:coreProperties>
</file>