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897"/>
  </p:normalViewPr>
  <p:slideViewPr>
    <p:cSldViewPr snapToGrid="0">
      <p:cViewPr varScale="1">
        <p:scale>
          <a:sx n="108" d="100"/>
          <a:sy n="108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22EE3E-EE95-0DF4-CFD0-45C60D05C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903346" y="662338"/>
            <a:ext cx="9755187" cy="3230674"/>
          </a:xfrm>
        </p:spPr>
        <p:txBody>
          <a:bodyPr/>
          <a:lstStyle/>
          <a:p>
            <a:pPr algn="ctr"/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Analyse du Besoin – Aéroworld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268018A-144D-C8F4-2A9C-E3A57BC580D1}"/>
              </a:ext>
            </a:extLst>
          </p:cNvPr>
          <p:cNvSpPr txBox="1"/>
          <p:nvPr/>
        </p:nvSpPr>
        <p:spPr>
          <a:xfrm>
            <a:off x="28575" y="128588"/>
            <a:ext cx="10858500" cy="4151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5520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57DDB3-2CCF-F8E8-004A-D5863BC805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Aéroworld : leader mondial de l’aéronautique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+50 ans d’existence, présence internationale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Conception, fabrication et maintenance d’avions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Secteur hautement technologique et fortement réglementé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Production massive de données techniques, opérationnelles et clients</a:t>
            </a:r>
          </a:p>
          <a:p>
            <a:pPr marL="0" indent="0" algn="ctr">
              <a:buNone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Enjeu global :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transformer la data en avantage stratégique.</a:t>
            </a:r>
          </a:p>
          <a:p>
            <a:endParaRPr lang="fr-FR" dirty="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3D3C4E4-8982-FF92-CEF6-E4FD9DC4C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5400" b="1" i="0" u="none" strike="noStrike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-webkit-standard"/>
              </a:rPr>
              <a:t>Contexte de l’entreprise</a:t>
            </a:r>
            <a:br>
              <a:rPr lang="fr-F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4666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E789AC-B6BD-5ADA-BC5F-80057565D9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Aéroworld fait face à une </a:t>
            </a: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gestion complexe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de la donnée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Volumes massifs (capteurs, vols, maintenance, clients)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Multiplicité des sources → silos, hétérogénéité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Difficulté de centralisation et d’interopérabilité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Besoin de systèmes robustes (Data Lake, gouvernance, IA)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Exigences de sécurité élevées (cyber, confidentialité, documents sensibles)</a:t>
            </a:r>
          </a:p>
          <a:p>
            <a:pPr marL="0" indent="0" algn="ctr">
              <a:buNone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Problème cœur :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exploiter et sécuriser efficacement des données critiques.</a:t>
            </a:r>
          </a:p>
          <a:p>
            <a:pPr marL="0" indent="0">
              <a:buNone/>
            </a:pPr>
            <a:endParaRPr lang="fr-FR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AA1ADBE2-1C4F-7C41-9D81-6722B8EAE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5400" b="1" i="0" u="none" strike="noStrike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-webkit-standard"/>
              </a:rPr>
              <a:t>Problématique Data actuelle</a:t>
            </a:r>
            <a:br>
              <a:rPr lang="fr-F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4207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70A1C9-D973-D3ED-0E7D-B379ADFA1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5400" b="1" i="0" u="none" strike="noStrike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-webkit-standard"/>
              </a:rPr>
              <a:t>Besoins organisationnels</a:t>
            </a:r>
            <a:br>
              <a:rPr lang="fr-F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593F1A-0458-8186-6F31-4767770371A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Aéroworld a besoin d’un Chef de Projet Data capable de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Analyser les besoins métiers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Cadrer et formaliser un cahier des charges fonctionnel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Prioriser les actions et piloter le projet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Coordonner les équipes Data, IT et métiers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Mettre en place une documentation claire et durable</a:t>
            </a:r>
          </a:p>
          <a:p>
            <a:pPr marL="0" indent="0" algn="ctr">
              <a:buNone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Objectif :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structurer la démarche Data de bout en bout.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4011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85668B-55E1-9562-108F-362901DE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5400" b="1" i="0" u="none" strike="noStrike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-webkit-standard"/>
              </a:rPr>
              <a:t>Besoin d’accompagnement &amp; montée en compétence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90594B-C3D5-1B8E-E738-F108AC4101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Les équipes internes doivent être accompagnées dans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La prise en main des outils d’analyse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L’adoption des bonnes pratiques 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La compréhension des indicateurs et pipelines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La maîtrise de la culture Data</a:t>
            </a:r>
          </a:p>
          <a:p>
            <a:pPr marL="0" indent="0" algn="ctr">
              <a:buNone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Attente clé :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un consultant qui transmet, rassure et guide.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5821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AEF2A2-7EC8-E238-410D-C3AC94682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5400" b="1" i="0" u="none" strike="noStrike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-webkit-standard"/>
              </a:rPr>
              <a:t>Posture et compétences attendues du candidat</a:t>
            </a:r>
            <a:br>
              <a:rPr lang="fr-F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A4BD0E-ABC4-5506-14D1-04970AC515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Aéroworld recherche un Data Analyst Chef de Projet capable de :</a:t>
            </a:r>
          </a:p>
          <a:p>
            <a:pPr algn="l">
              <a:buFont typeface="Courier New" panose="02070309020205020404" pitchFamily="49" charset="0"/>
              <a:buChar char="o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Effectuer une </a:t>
            </a: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veille technologique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Courier New" panose="02070309020205020404" pitchFamily="49" charset="0"/>
              <a:buChar char="o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Challenger les besoins exprimés (posture de consultant)</a:t>
            </a:r>
          </a:p>
          <a:p>
            <a:pPr algn="l">
              <a:buFont typeface="Courier New" panose="02070309020205020404" pitchFamily="49" charset="0"/>
              <a:buChar char="o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Communiquer avec pédagogie – niveau expert + vulgarisation</a:t>
            </a:r>
          </a:p>
          <a:p>
            <a:pPr algn="l">
              <a:buFont typeface="Courier New" panose="02070309020205020404" pitchFamily="49" charset="0"/>
              <a:buChar char="o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Travailler en anglais technique si nécessaire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Allier :</a:t>
            </a:r>
          </a:p>
          <a:p>
            <a:pPr lvl="1" algn="l">
              <a:buFont typeface="Wingdings" pitchFamily="2" charset="2"/>
              <a:buChar char="Ø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analyse</a:t>
            </a:r>
          </a:p>
          <a:p>
            <a:pPr lvl="1" algn="l">
              <a:buFont typeface="Wingdings" pitchFamily="2" charset="2"/>
              <a:buChar char="Ø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organisation</a:t>
            </a:r>
          </a:p>
          <a:p>
            <a:pPr lvl="1" algn="l">
              <a:buFont typeface="Wingdings" pitchFamily="2" charset="2"/>
              <a:buChar char="Ø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innovation</a:t>
            </a:r>
          </a:p>
          <a:p>
            <a:pPr lvl="1" algn="l">
              <a:buFont typeface="Wingdings" pitchFamily="2" charset="2"/>
              <a:buChar char="Ø"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accompagnement humain</a:t>
            </a:r>
          </a:p>
          <a:p>
            <a:pPr marL="0" indent="0" algn="ctr">
              <a:buNone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En résumé :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un profil polyvalent, technique et orienté conseil.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8761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2300C7-A638-5009-F8E5-6E06C1870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5400" b="1" i="0" u="none" strike="noStrike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-webkit-standard"/>
              </a:rPr>
              <a:t>Synthèse du besoin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48505B-DF0F-4E58-A2DE-CC44395DE8F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Aéroworld attend un expert capable de :</a:t>
            </a:r>
          </a:p>
          <a:p>
            <a:pPr marL="0" indent="0" algn="l">
              <a:buNone/>
            </a:pP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✔ Comprendre et cadrer les besoins Data métiers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✔ Déployer une architecture fiable pour données massives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✔ Sécuriser et harmoniser l’ensemble des sources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✔ Valoriser les données pour améliorer l’innovation et la performance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✔ Accompagner et former les équipes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 ✔ Incarner une posture de consultant en pilotant le projet</a:t>
            </a:r>
          </a:p>
          <a:p>
            <a:pPr algn="ctr">
              <a:buFont typeface="Wingdings" pitchFamily="2" charset="2"/>
              <a:buChar char="ü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Conclusion :</a:t>
            </a:r>
            <a:br>
              <a:rPr lang="fr-FR" dirty="0"/>
            </a:br>
            <a:r>
              <a:rPr lang="fr-F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fr-FR" b="0" i="1" u="none" strike="noStrike" dirty="0">
                <a:solidFill>
                  <a:srgbClr val="000000"/>
                </a:solidFill>
                <a:effectLst/>
              </a:rPr>
              <a:t>Le candidat doit démontrer, via son portfolio, qu’il peut piloter un projet Data complet et accompagner Aéroworld vers une meilleure maturité data.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3246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764CCC-772D-6867-0CC2-D186620B0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25" y="106819"/>
            <a:ext cx="10396882" cy="1151965"/>
          </a:xfrm>
        </p:spPr>
        <p:txBody>
          <a:bodyPr/>
          <a:lstStyle/>
          <a:p>
            <a:pPr algn="ctr"/>
            <a:r>
              <a:rPr lang="fr-FR" sz="5400" b="1" i="0" u="none" strike="noStrike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-webkit-standard"/>
              </a:rPr>
              <a:t>Conclusion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BEF1D8-9AD2-8675-4B57-2C88B48F16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258784"/>
            <a:ext cx="10394707" cy="4476998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fr-FR" sz="2500" b="1" i="0" u="none" strike="noStrike" dirty="0">
                <a:solidFill>
                  <a:srgbClr val="000000"/>
                </a:solidFill>
                <a:effectLst/>
              </a:rPr>
              <a:t>Aéroworld fait face à un défi stratégique :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exploiter une data massive, complexe et sensible afin d’améliorer l’innovation, la performance opérationnelle et la sécurité aéronautique.</a:t>
            </a:r>
          </a:p>
          <a:p>
            <a:pPr algn="l"/>
            <a:r>
              <a:rPr lang="fr-FR" sz="2900" b="1" i="0" u="none" strike="noStrike" dirty="0">
                <a:solidFill>
                  <a:srgbClr val="000000"/>
                </a:solidFill>
                <a:effectLst/>
              </a:rPr>
              <a:t>Le besoin central :</a:t>
            </a:r>
            <a:br>
              <a:rPr lang="fr-FR" sz="2900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sz="2900" b="0" i="0" u="none" strike="noStrike" dirty="0">
                <a:solidFill>
                  <a:srgbClr val="000000"/>
                </a:solidFill>
                <a:effectLst/>
              </a:rPr>
              <a:t>un </a:t>
            </a:r>
            <a:r>
              <a:rPr lang="fr-FR" sz="2900" b="1" i="0" u="none" strike="noStrike" dirty="0">
                <a:solidFill>
                  <a:srgbClr val="000000"/>
                </a:solidFill>
                <a:effectLst/>
              </a:rPr>
              <a:t>Chef de Projet Data Analyst</a:t>
            </a:r>
            <a:r>
              <a:rPr lang="fr-FR" sz="2900" b="0" i="0" u="none" strike="noStrike" dirty="0">
                <a:solidFill>
                  <a:srgbClr val="000000"/>
                </a:solidFill>
                <a:effectLst/>
              </a:rPr>
              <a:t> capable de structurer la donnée, d’accompagner les équipes et d’apporter une vision claire et opérationnelle.</a:t>
            </a:r>
          </a:p>
          <a:p>
            <a:pPr algn="l"/>
            <a:r>
              <a:rPr lang="fr-FR" sz="2900" b="1" i="0" u="none" strike="noStrike" dirty="0">
                <a:solidFill>
                  <a:srgbClr val="000000"/>
                </a:solidFill>
                <a:effectLst/>
              </a:rPr>
              <a:t>Ce que le candidat doit démontrer :</a:t>
            </a:r>
            <a:endParaRPr lang="fr-FR" sz="29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900" b="0" i="0" u="none" strike="noStrike" dirty="0">
                <a:solidFill>
                  <a:srgbClr val="000000"/>
                </a:solidFill>
                <a:effectLst/>
              </a:rPr>
              <a:t>maîtrise du cadrage et de l’analyse des besoins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900" b="0" i="0" u="none" strike="noStrike" dirty="0">
                <a:solidFill>
                  <a:srgbClr val="000000"/>
                </a:solidFill>
                <a:effectLst/>
              </a:rPr>
              <a:t>capacité à organiser un projet Data complet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900" b="0" i="0" u="none" strike="noStrike" dirty="0">
                <a:solidFill>
                  <a:srgbClr val="000000"/>
                </a:solidFill>
                <a:effectLst/>
              </a:rPr>
              <a:t>compétences techniques solides (veille, outils, gouvernance, visualisation, IA/ML)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900" b="0" i="0" u="none" strike="noStrike" dirty="0">
                <a:solidFill>
                  <a:srgbClr val="000000"/>
                </a:solidFill>
                <a:effectLst/>
              </a:rPr>
              <a:t>posture de consultant : pédagogie, conseil, communication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900" b="0" i="0" u="none" strike="noStrike" dirty="0">
                <a:solidFill>
                  <a:srgbClr val="000000"/>
                </a:solidFill>
                <a:effectLst/>
              </a:rPr>
              <a:t>capacité à transformer la donnée en valeur métier</a:t>
            </a:r>
          </a:p>
          <a:p>
            <a:pPr algn="ctr">
              <a:buFont typeface="Wingdings" pitchFamily="2" charset="2"/>
              <a:buChar char="ü"/>
            </a:pPr>
            <a:r>
              <a:rPr lang="fr-FR" b="1" i="0" u="none" strike="noStrike" dirty="0">
                <a:solidFill>
                  <a:srgbClr val="000000"/>
                </a:solidFill>
                <a:effectLst/>
              </a:rPr>
              <a:t>En résumé :</a:t>
            </a:r>
            <a:br>
              <a:rPr lang="fr-FR" b="0" i="0" u="none" strike="noStrike" dirty="0">
                <a:solidFill>
                  <a:srgbClr val="000000"/>
                </a:solidFill>
                <a:effectLst/>
              </a:rPr>
            </a:br>
            <a:r>
              <a:rPr lang="fr-FR" b="0" i="1" u="none" strike="noStrike" dirty="0">
                <a:solidFill>
                  <a:srgbClr val="000000"/>
                </a:solidFill>
                <a:effectLst/>
              </a:rPr>
              <a:t>Aéroworld cherche un expert polyvalent, capable de piloter, sécuriser et valoriser la data à grande échelle, tout en guidant les équipes vers une maturité Data durable.</a:t>
            </a:r>
            <a:endParaRPr lang="fr-FR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24036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rand événem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Grand événement</Template>
  <TotalTime>50</TotalTime>
  <Words>546</Words>
  <Application>Microsoft Macintosh PowerPoint</Application>
  <PresentationFormat>Grand écran</PresentationFormat>
  <Paragraphs>57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-webkit-standard</vt:lpstr>
      <vt:lpstr>Arial</vt:lpstr>
      <vt:lpstr>Courier New</vt:lpstr>
      <vt:lpstr>Impact</vt:lpstr>
      <vt:lpstr>Wingdings</vt:lpstr>
      <vt:lpstr>Grand événement</vt:lpstr>
      <vt:lpstr>Analyse du Besoin – Aéroworld</vt:lpstr>
      <vt:lpstr>Contexte de l’entreprise </vt:lpstr>
      <vt:lpstr>Problématique Data actuelle </vt:lpstr>
      <vt:lpstr>Besoins organisationnels </vt:lpstr>
      <vt:lpstr>Besoin d’accompagnement &amp; montée en compétence</vt:lpstr>
      <vt:lpstr>Posture et compétences attendues du candidat </vt:lpstr>
      <vt:lpstr>Synthèse du besoin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du Besoin – Aéroworld</dc:title>
  <dc:creator>Mac3</dc:creator>
  <cp:lastModifiedBy>Mac3</cp:lastModifiedBy>
  <cp:revision>4</cp:revision>
  <dcterms:created xsi:type="dcterms:W3CDTF">2025-11-21T19:40:21Z</dcterms:created>
  <dcterms:modified xsi:type="dcterms:W3CDTF">2025-11-21T20:31:20Z</dcterms:modified>
</cp:coreProperties>
</file>